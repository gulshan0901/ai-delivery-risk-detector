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ec6d314399424b" /><Relationship Type="http://schemas.openxmlformats.org/officeDocument/2006/relationships/extended-properties" Target="/docProps/app.xml" Id="R3c7af391a1da4687" /><Relationship Type="http://schemas.openxmlformats.org/officeDocument/2006/relationships/officeDocument" Target="/ppt/presentation.xml" Id="Raca0cf9ecab541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e3d68b198246a3"/>
  </p:sldMasterIdLst>
  <p:notesMasterIdLst>
    <p:notesMasterId xmlns:r="http://schemas.openxmlformats.org/officeDocument/2006/relationships" r:id="Racd82deee8804470"/>
  </p:notesMasterIdLst>
  <p:sldIdLst>
    <p:sldId xmlns:r="http://schemas.openxmlformats.org/officeDocument/2006/relationships" id="256" r:id="R68070ed25c5747e7"/>
    <p:sldId xmlns:r="http://schemas.openxmlformats.org/officeDocument/2006/relationships" id="257" r:id="Ra3920843dc684d18"/>
    <p:sldId xmlns:r="http://schemas.openxmlformats.org/officeDocument/2006/relationships" id="258" r:id="Rb19aa790b4764498"/>
    <p:sldId xmlns:r="http://schemas.openxmlformats.org/officeDocument/2006/relationships" id="259" r:id="Ra59cd7ddad4a4b11"/>
    <p:sldId xmlns:r="http://schemas.openxmlformats.org/officeDocument/2006/relationships" id="260" r:id="R4049ffd2455347ae"/>
    <p:sldId xmlns:r="http://schemas.openxmlformats.org/officeDocument/2006/relationships" id="261" r:id="R23311e3cf05a4368"/>
    <p:sldId xmlns:r="http://schemas.openxmlformats.org/officeDocument/2006/relationships" id="262" r:id="R1c0fbf2d174546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d9d0efefe844a8" /><Relationship Type="http://schemas.openxmlformats.org/officeDocument/2006/relationships/slideMaster" Target="/ppt/slideMasters/slideMaster1.xml" Id="R69e3d68b198246a3" /><Relationship Type="http://schemas.openxmlformats.org/officeDocument/2006/relationships/notesMaster" Target="/ppt/notesMasters/notesMaster1.xml" Id="Racd82deee8804470" /><Relationship Type="http://schemas.openxmlformats.org/officeDocument/2006/relationships/presProps" Target="/ppt/presProps.xml" Id="Re817b98464cb4db4" /><Relationship Type="http://schemas.openxmlformats.org/officeDocument/2006/relationships/tableStyles" Target="/ppt/tableStyles.xml" Id="R614c37d9a63f45f7" /><Relationship Type="http://schemas.openxmlformats.org/officeDocument/2006/relationships/slide" Target="/ppt/slides/slide1.xml" Id="R68070ed25c5747e7" /><Relationship Type="http://schemas.openxmlformats.org/officeDocument/2006/relationships/slide" Target="/ppt/slides/slide2.xml" Id="Ra3920843dc684d18" /><Relationship Type="http://schemas.openxmlformats.org/officeDocument/2006/relationships/slide" Target="/ppt/slides/slide3.xml" Id="Rb19aa790b4764498" /><Relationship Type="http://schemas.openxmlformats.org/officeDocument/2006/relationships/slide" Target="/ppt/slides/slide4.xml" Id="Ra59cd7ddad4a4b11" /><Relationship Type="http://schemas.openxmlformats.org/officeDocument/2006/relationships/slide" Target="/ppt/slides/slide5.xml" Id="R4049ffd2455347ae" /><Relationship Type="http://schemas.openxmlformats.org/officeDocument/2006/relationships/slide" Target="/ppt/slides/slide6.xml" Id="R23311e3cf05a4368" /><Relationship Type="http://schemas.openxmlformats.org/officeDocument/2006/relationships/slide" Target="/ppt/slides/slide7.xml" Id="R1c0fbf2d174546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415d87aaa04d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5f9a666b445af" /><Relationship Type="http://schemas.openxmlformats.org/officeDocument/2006/relationships/notesMaster" Target="/ppt/notesMasters/notesMaster1.xml" Id="Re56b22862598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ec4cfcea8643ca" /><Relationship Type="http://schemas.openxmlformats.org/officeDocument/2006/relationships/notesMaster" Target="/ppt/notesMasters/notesMaster1.xml" Id="Rf54d8a4658e84a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048f51710b4c64" /><Relationship Type="http://schemas.openxmlformats.org/officeDocument/2006/relationships/notesMaster" Target="/ppt/notesMasters/notesMaster1.xml" Id="R1d35c0de851344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dbd6d04f74ed8" /><Relationship Type="http://schemas.openxmlformats.org/officeDocument/2006/relationships/notesMaster" Target="/ppt/notesMasters/notesMaster1.xml" Id="Ra7ceb730b24143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46e35fb94046b8" /><Relationship Type="http://schemas.openxmlformats.org/officeDocument/2006/relationships/notesMaster" Target="/ppt/notesMasters/notesMaster1.xml" Id="Rab3f8a78b037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35772334fb48d7" /><Relationship Type="http://schemas.openxmlformats.org/officeDocument/2006/relationships/notesMaster" Target="/ppt/notesMasters/notesMaster1.xml" Id="Rd852b1cd10e140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f2725fb2744511" /><Relationship Type="http://schemas.openxmlformats.org/officeDocument/2006/relationships/notesMaster" Target="/ppt/notesMasters/notesMaster1.xml" Id="Re38910eecc4b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28198d0ed44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9574245df4655" /><Relationship Type="http://schemas.openxmlformats.org/officeDocument/2006/relationships/slideLayout" Target="/ppt/slideLayouts/slideLayout1.xml" Id="Re34a8cc1543b48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a8cc1543b48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a0cba5e2c48ae" /><Relationship Type="http://schemas.openxmlformats.org/officeDocument/2006/relationships/notesSlide" Target="/ppt/notesSlides/notesSlide1.xml" Id="R16d58d8512bb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513b8cb444ed" /><Relationship Type="http://schemas.openxmlformats.org/officeDocument/2006/relationships/notesSlide" Target="/ppt/notesSlides/notesSlide2.xml" Id="Rc022e20d222f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ef8547be44dce" /><Relationship Type="http://schemas.openxmlformats.org/officeDocument/2006/relationships/notesSlide" Target="/ppt/notesSlides/notesSlide3.xml" Id="Rf6866c983a0744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95510d65c4720" /><Relationship Type="http://schemas.openxmlformats.org/officeDocument/2006/relationships/notesSlide" Target="/ppt/notesSlides/notesSlide4.xml" Id="Rce3c5712780b4e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5ae65d7a1427e" /><Relationship Type="http://schemas.openxmlformats.org/officeDocument/2006/relationships/notesSlide" Target="/ppt/notesSlides/notesSlide5.xml" Id="R7ed57920441742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1f92c92d14a3b" /><Relationship Type="http://schemas.openxmlformats.org/officeDocument/2006/relationships/image" Target="/ppt/media/image.png" Id="R6be26b77c5414990" /><Relationship Type="http://schemas.openxmlformats.org/officeDocument/2006/relationships/notesSlide" Target="/ppt/notesSlides/notesSlide6.xml" Id="Reb8f59ee9dda43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041bd61414cde" /><Relationship Type="http://schemas.openxmlformats.org/officeDocument/2006/relationships/notesSlide" Target="/ppt/notesSlides/notesSlide7.xml" Id="R6364d95a38d24a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9952D-1587-4B93-A1B8-19A7CA28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HCLTech x OpenAI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8C3BC-72E0-486B-961C-9BA52E26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Agentic Delivery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Risk 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9EB63-0ACE-411D-83A4-28B7563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6F7"/>
                </a:solidFill>
              </a:defRPr>
            </a:pPr>
            <a:r>
              <a:rPr sz="1800" b="0">
                <a:solidFill>
                  <a:srgbClr val="D6E6F7"/>
                </a:solidFill>
              </a:rPr>
              <a:t>A multi-agent command center that detects project risk, proves it with evidence, drafts recovery actions, and creates Codex-ready remediation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46BB4-B6D7-4712-BE2D-FA6B073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43000"/>
            <a:ext cx="2857500" cy="3429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3D5A"/>
          </a:solidFill>
          <a:ln xmlns:a="http://schemas.openxmlformats.org/drawingml/2006/main" w="9525">
            <a:solidFill>
              <a:srgbClr val="4E78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284C1-A37D-4E34-9CD6-C5CC461C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OpenAI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51883-3669-4776-9794-DB9DB56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5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3AA11-B5EF-4691-8635-D9C5CE79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6E6F7"/>
                </a:solidFill>
              </a:defRPr>
            </a:pPr>
            <a:r>
              <a:rPr sz="1650" b="1">
                <a:solidFill>
                  <a:srgbClr val="D6E6F7"/>
                </a:solidFill>
              </a:rPr>
              <a:t>Evidence-backed</a:t>
            </a:r>
          </a:p>
          <a:p xmlns:a="http://schemas.openxmlformats.org/drawingml/2006/main">
            <a:pPr algn="ctr">
              <a:defRPr sz="1650" b="1">
                <a:solidFill>
                  <a:srgbClr val="D6E6F7"/>
                </a:solidFill>
              </a:defRPr>
            </a:pPr>
            <a:r>
              <a:rPr sz="1650" b="1">
                <a:solidFill>
                  <a:srgbClr val="D6E6F7"/>
                </a:solidFill>
              </a:rPr>
              <a:t>recovery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20003-8AC9-4ADC-A699-AA6C0A3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HCLTech x OpenAI Agentic AI Hackathon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F10BA-9580-4ED2-8CA7-A8177E59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45581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E2AD5-8D0E-40E3-9261-FABA5FBE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F"/>
                </a:solidFill>
              </a:defRPr>
            </a:pPr>
            <a:r>
              <a:rPr sz="1050" b="1">
                <a:solidFill>
                  <a:srgbClr val="008B8F"/>
                </a:solidFill>
              </a:rPr>
              <a:t>AGENTIC DELIVERY RISK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D0F73-728C-49DE-A71A-D68EDDB4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522"/>
                </a:solidFill>
              </a:defRPr>
            </a:pPr>
            <a:r>
              <a:rPr sz="3000" b="1">
                <a:solidFill>
                  <a:srgbClr val="101522"/>
                </a:solidFill>
              </a:rPr>
              <a:t>The Enterprise Delivery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2CE26-E33B-4B26-9F7A-78A00910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94F3C-A3DC-4D66-A8CB-D650D775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522"/>
                </a:solidFill>
              </a:defRPr>
            </a:pPr>
            <a:r>
              <a:rPr sz="1950" b="1">
                <a:solidFill>
                  <a:srgbClr val="101522"/>
                </a:solidFill>
              </a:rPr>
              <a:t>Status is fragmented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92A52-74E0-45F1-90B9-1AC03B19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764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Risks are spread across Jira exports, meeting notes, build logs, and emails.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74DC0-1809-412C-92A6-53D9498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7B150-9B47-4D4A-B7C1-F377DB44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522"/>
                </a:solidFill>
              </a:defRPr>
            </a:pPr>
            <a:r>
              <a:rPr sz="1950" b="1">
                <a:solidFill>
                  <a:srgbClr val="101522"/>
                </a:solidFill>
              </a:rPr>
              <a:t>Blockers are found 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BADCC-C3AB-45EC-8187-B665B8C6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337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Manual reviews miss stale ownership, dependency aging, and technical failure patterns.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B5629-2FFC-42D1-907D-D31A2B52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45ED7-C8FC-4393-A9B8-E93FF364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522"/>
                </a:solidFill>
              </a:defRPr>
            </a:pPr>
            <a:r>
              <a:rPr sz="1950" b="1">
                <a:solidFill>
                  <a:srgbClr val="101522"/>
                </a:solidFill>
              </a:rPr>
              <a:t>Recovery takes too long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DEF6C-E4FE-4FBA-A2ED-F8D1700E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910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4"/>
                </a:solidFill>
              </a:defRPr>
            </a:pPr>
            <a:r>
              <a:rPr sz="1650" b="0">
                <a:solidFill>
                  <a:srgbClr val="617084"/>
                </a:solidFill>
              </a:rPr>
              <a:t>PMs still need to draft escalation notes, Jira updates, and executive summaries manually.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5FD3F-4D79-43AD-9335-24265383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HCLTech x OpenAI Agentic AI Hackathon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AEC93-E1D4-4AEF-A81A-E0AAE47B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6739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AA94DE-90E7-4E14-8B91-4C84A7D9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F"/>
                </a:solidFill>
              </a:defRPr>
            </a:pPr>
            <a:r>
              <a:rPr sz="1050" b="1">
                <a:solidFill>
                  <a:srgbClr val="008B8F"/>
                </a:solidFill>
              </a:rPr>
              <a:t>AGENTIC DELIVERY RISK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76892-5B3D-44E9-B7B5-C73A2B4A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522"/>
                </a:solidFill>
              </a:defRPr>
            </a:pPr>
            <a:r>
              <a:rPr sz="3000" b="1">
                <a:solidFill>
                  <a:srgbClr val="101522"/>
                </a:solidFill>
              </a:rPr>
              <a:t>Solution: Multi-Agent Delivery Command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4F72D-E440-4D34-A53F-13D089DF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084"/>
                </a:solidFill>
              </a:defRPr>
            </a:pPr>
            <a:r>
              <a:rPr sz="1800" b="0">
                <a:solidFill>
                  <a:srgbClr val="617084"/>
                </a:solidFill>
              </a:rPr>
              <a:t>The copilot converts raw project artifacts into a prioritized recovery plan with source evidence and ready-to-approve communications.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1CC20-611F-4A40-8174-330C8FB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219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1A456-ACC3-4F39-B7D0-08A151A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522"/>
                </a:solidFill>
              </a:defRPr>
            </a:pPr>
            <a:r>
              <a:rPr sz="2550" b="1">
                <a:solidFill>
                  <a:srgbClr val="101522"/>
                </a:solidFill>
              </a:rPr>
              <a:t>Detect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FCE0E-878C-4390-B246-D4BF8B0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84"/>
                </a:solidFill>
              </a:defRPr>
            </a:pPr>
            <a:r>
              <a:rPr sz="1575" b="0">
                <a:solidFill>
                  <a:srgbClr val="617084"/>
                </a:solidFill>
              </a:rPr>
              <a:t>Find blocked work, stale owners, failed builds, and client escalation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B3850-DD9E-4CF9-89B6-BB832B1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3219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AFA"/>
          </a:solidFill>
          <a:ln xmlns:a="http://schemas.openxmlformats.org/drawingml/2006/main" w="9525">
            <a:solidFill>
              <a:srgbClr val="9BD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CF6F2-22D3-4934-B2A6-546DA8B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62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8B8F"/>
                </a:solidFill>
              </a:defRPr>
            </a:pPr>
            <a:r>
              <a:rPr sz="2550" b="1">
                <a:solidFill>
                  <a:srgbClr val="008B8F"/>
                </a:solidFill>
              </a:rPr>
              <a:t>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F768A-6650-42F4-9DEB-2A052D3B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909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84"/>
                </a:solidFill>
              </a:defRPr>
            </a:pPr>
            <a:r>
              <a:rPr sz="1575" b="0">
                <a:solidFill>
                  <a:srgbClr val="617084"/>
                </a:solidFill>
              </a:rPr>
              <a:t>Cite exact artifact, row, and line evidence behind each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2A9DE-93E2-46F0-B9B0-71BB3DA5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3219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7A74E-2A88-4E8C-B356-308C986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522"/>
                </a:solidFill>
              </a:defRPr>
            </a:pPr>
            <a:r>
              <a:rPr sz="2550" b="1">
                <a:solidFill>
                  <a:srgbClr val="101522"/>
                </a:solidFill>
              </a:rPr>
              <a:t>Recover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F23C0-4E6C-4A2B-B466-9DCCD354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84"/>
                </a:solidFill>
              </a:defRPr>
            </a:pPr>
            <a:r>
              <a:rPr sz="1575" b="0">
                <a:solidFill>
                  <a:srgbClr val="617084"/>
                </a:solidFill>
              </a:rPr>
              <a:t>Generate escalation emails, Jira comments, and Codex remediation prompts.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75AA9-FB5D-45D5-B3EF-9E3D0DD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HCLTech x OpenAI Agentic AI Hackathon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50BEB-A0E9-46E4-A228-1BEC52FD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7110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41171-11BE-478E-8FC4-F2B8FBAC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F"/>
                </a:solidFill>
              </a:defRPr>
            </a:pPr>
            <a:r>
              <a:rPr sz="1050" b="1">
                <a:solidFill>
                  <a:srgbClr val="008B8F"/>
                </a:solidFill>
              </a:rPr>
              <a:t>AGENTIC DELIVERY RISK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70EE9-DDAC-4ED6-A455-834F9533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522"/>
                </a:solidFill>
              </a:defRPr>
            </a:pPr>
            <a:r>
              <a:rPr sz="3000" b="1">
                <a:solidFill>
                  <a:srgbClr val="101522"/>
                </a:solidFill>
              </a:rPr>
              <a:t>OpenAI Products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58284-7334-4D5B-BB67-E84EFFD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0303A-67D5-43B1-8A69-D35A5CED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5FD6"/>
                </a:solidFill>
              </a:defRPr>
            </a:pPr>
            <a:r>
              <a:rPr sz="1950" b="1">
                <a:solidFill>
                  <a:srgbClr val="1D5FD6"/>
                </a:solidFill>
              </a:rPr>
              <a:t>OpenAI Responses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42672-8817-4BA7-B76D-AA6B7437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4"/>
                </a:solidFill>
              </a:defRPr>
            </a:pPr>
            <a:r>
              <a:rPr sz="1500" b="0">
                <a:solidFill>
                  <a:srgbClr val="617084"/>
                </a:solidFill>
              </a:rPr>
              <a:t>Reasoning over project artifacts and generating structured outputs for the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9C86C-6657-4A01-8942-EE68684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BFAB9-E75B-483F-87CC-5090BD7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05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5FD6"/>
                </a:solidFill>
              </a:defRPr>
            </a:pPr>
            <a:r>
              <a:rPr sz="1950" b="1">
                <a:solidFill>
                  <a:srgbClr val="1D5FD6"/>
                </a:solidFill>
              </a:rPr>
              <a:t>Structured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057D1-AC30-4DAB-AA94-51ECFE3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4"/>
                </a:solidFill>
              </a:defRPr>
            </a:pPr>
            <a:r>
              <a:rPr sz="1500" b="0">
                <a:solidFill>
                  <a:srgbClr val="617084"/>
                </a:solidFill>
              </a:rPr>
              <a:t>Risk score, evidence, severity, actions, drafts, and remediation plan are returned as strict fields.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D39E0-F021-4FF6-A7C4-B79EBA93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747F5-F041-4B56-8C59-92D4F363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5FD6"/>
                </a:solidFill>
              </a:defRPr>
            </a:pPr>
            <a:r>
              <a:rPr sz="1950" b="1">
                <a:solidFill>
                  <a:srgbClr val="1D5FD6"/>
                </a:solidFill>
              </a:rPr>
              <a:t>Tool-style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FCC68-EF73-437E-8780-E6556209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4"/>
                </a:solidFill>
              </a:defRPr>
            </a:pPr>
            <a:r>
              <a:rPr sz="1500" b="0">
                <a:solidFill>
                  <a:srgbClr val="617084"/>
                </a:solidFill>
              </a:rPr>
              <a:t>The app presents the workflow as ingestion, evidence, risk, action, and remediation agents.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8C82B-2EA6-4C7C-B0EC-4119C36C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5AE65-3656-4840-9DBF-64B82E6B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5FD6"/>
                </a:solidFill>
              </a:defRPr>
            </a:pPr>
            <a:r>
              <a:rPr sz="1950" b="1">
                <a:solidFill>
                  <a:srgbClr val="1D5FD6"/>
                </a:solidFill>
              </a:rPr>
              <a:t>Codex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53DC4-EACD-42FD-BBC7-64806EB5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4"/>
                </a:solidFill>
              </a:defRPr>
            </a:pPr>
            <a:r>
              <a:rPr sz="1500" b="0">
                <a:solidFill>
                  <a:srgbClr val="617084"/>
                </a:solidFill>
              </a:rPr>
              <a:t>The remediation agent produces a Codex-ready prompt for build/code fixes and regression tests.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093D2-3A53-4D8E-AB9C-3E1ACC37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HCLTech x OpenAI Agentic AI Hackathon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150EE-EDC4-4A6E-8702-6DFF7D5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8356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FAED4-CC93-4F85-976F-13350528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F"/>
                </a:solidFill>
              </a:defRPr>
            </a:pPr>
            <a:r>
              <a:rPr sz="1050" b="1">
                <a:solidFill>
                  <a:srgbClr val="008B8F"/>
                </a:solidFill>
              </a:rPr>
              <a:t>AGENTIC DELIVERY RISK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F71E1-A504-4AAC-97D2-2331522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522"/>
                </a:solidFill>
              </a:defRPr>
            </a:pPr>
            <a:r>
              <a:rPr sz="3000" b="1">
                <a:solidFill>
                  <a:srgbClr val="101522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E1D03-A08A-49EC-B643-CC93D154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381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A9C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932D1-FB8C-48C6-9F0D-06CBE077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22"/>
                </a:solidFill>
              </a:defRPr>
            </a:pPr>
            <a:r>
              <a:rPr sz="1650" b="1">
                <a:solidFill>
                  <a:srgbClr val="101522"/>
                </a:solidFill>
              </a:rPr>
              <a:t>Artifacts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50804-3BC3-493C-871D-963FA46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289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084"/>
                </a:solidFill>
              </a:defRPr>
            </a:pPr>
            <a:r>
              <a:rPr sz="25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BF66B-9C4F-4E95-BE77-1F0AA4CA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66950"/>
            <a:ext cx="1381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9525">
            <a:solidFill>
              <a:srgbClr val="B9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4EDFE-7ACE-493B-A0B8-A049991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479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22"/>
                </a:solidFill>
              </a:defRPr>
            </a:pPr>
            <a:r>
              <a:rPr sz="1650" b="1">
                <a:solidFill>
                  <a:srgbClr val="101522"/>
                </a:solidFill>
              </a:rPr>
              <a:t>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9D0BC-3830-4C01-912D-68517DE1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289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084"/>
                </a:solidFill>
              </a:defRPr>
            </a:pPr>
            <a:r>
              <a:rPr sz="25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C8DA0-544C-44F5-B5A6-A9824955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381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9525">
            <a:solidFill>
              <a:srgbClr val="B9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F021A-C7BC-4D50-A474-3800AA53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22"/>
                </a:solidFill>
              </a:defRPr>
            </a:pPr>
            <a:r>
              <a:rPr sz="1650" b="1">
                <a:solidFill>
                  <a:srgbClr val="101522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CF772-DD9F-4516-B665-C4BD6B31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084"/>
                </a:solidFill>
              </a:defRPr>
            </a:pPr>
            <a:r>
              <a:rPr sz="25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3E745-F525-43B2-91E0-8AA1707D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381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9525">
            <a:solidFill>
              <a:srgbClr val="B9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AC673-9CE6-4835-8F69-18EF2B6C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479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22"/>
                </a:solidFill>
              </a:defRPr>
            </a:pPr>
            <a:r>
              <a:rPr sz="1650" b="1">
                <a:solidFill>
                  <a:srgbClr val="101522"/>
                </a:solidFill>
              </a:rPr>
              <a:t>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51228-F066-441A-AFE2-0313AA9B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289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084"/>
                </a:solidFill>
              </a:defRPr>
            </a:pPr>
            <a:r>
              <a:rPr sz="25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BF7EA-503D-44D9-BE46-3D8285D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1381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9525">
            <a:solidFill>
              <a:srgbClr val="B9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BF0C6-BD7E-4725-A87E-DCAB188A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22"/>
                </a:solidFill>
              </a:defRPr>
            </a:pPr>
            <a:r>
              <a:rPr sz="1650" b="1">
                <a:solidFill>
                  <a:srgbClr val="101522"/>
                </a:solidFill>
              </a:rPr>
              <a:t>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281BB-687A-40F2-A5B0-27FF7761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17084"/>
                </a:solidFill>
              </a:defRPr>
            </a:pPr>
            <a:r>
              <a:rPr sz="2550" b="1">
                <a:solidFill>
                  <a:srgbClr val="61708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A8DD7-DB33-4C10-8928-2F7E32F6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66950"/>
            <a:ext cx="1381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9525">
            <a:solidFill>
              <a:srgbClr val="B9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2E39A-CA25-4501-90FD-47832C50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479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22"/>
                </a:solidFill>
              </a:defRPr>
            </a:pPr>
            <a:r>
              <a:rPr sz="1650" b="1">
                <a:solidFill>
                  <a:srgbClr val="101522"/>
                </a:solidFill>
              </a:rPr>
              <a:t>Codex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ACC39-5984-4280-AB03-FB249A68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5FD6"/>
                </a:solidFill>
              </a:defRPr>
            </a:pPr>
            <a:r>
              <a:rPr sz="1950" b="1">
                <a:solidFill>
                  <a:srgbClr val="1D5FD6"/>
                </a:solidFill>
              </a:rPr>
              <a:t>React 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16BED-343C-4876-84B5-E98D3CE3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91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8B8F"/>
                </a:solidFill>
              </a:defRPr>
            </a:pPr>
            <a:r>
              <a:rPr sz="1950" b="1">
                <a:solidFill>
                  <a:srgbClr val="008B8F"/>
                </a:solidFill>
              </a:rPr>
              <a:t>FastAPI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D33F4-BE2E-46FD-B8EC-74235DD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8A4B"/>
                </a:solidFill>
              </a:defRPr>
            </a:pPr>
            <a:r>
              <a:rPr sz="1950" b="1">
                <a:solidFill>
                  <a:srgbClr val="218A4B"/>
                </a:solidFill>
              </a:rPr>
              <a:t>OpenAI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84259-9560-4A60-9125-9791D91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HCLTech x OpenAI Agentic AI Hackathon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59627-BEB7-42EF-86B5-7B67DC7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9541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F78CE5-A6C9-4BC2-90C6-25CCB68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8F"/>
                </a:solidFill>
              </a:defRPr>
            </a:pPr>
            <a:r>
              <a:rPr sz="1050" b="1">
                <a:solidFill>
                  <a:srgbClr val="008B8F"/>
                </a:solidFill>
              </a:rPr>
              <a:t>AGENTIC DELIVERY RISK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DD51D-20D6-4164-80C6-07970FE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522"/>
                </a:solidFill>
              </a:defRPr>
            </a:pPr>
            <a:r>
              <a:rPr sz="3000" b="1">
                <a:solidFill>
                  <a:srgbClr val="101522"/>
                </a:solidFill>
              </a:rPr>
              <a:t>Live Demo Flow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26b77c5414990"/>
          <a:stretch xmlns:a="http://schemas.openxmlformats.org/drawingml/2006/main"/>
        </p:blipFill>
        <p:spPr>
          <a:xfrm xmlns:a="http://schemas.openxmlformats.org/drawingml/2006/main">
            <a:off x="5810250" y="1831834"/>
            <a:ext cx="5334000" cy="2194207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433F3-C69C-489D-AC46-B6D471E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5FD6"/>
                </a:solidFill>
              </a:defRPr>
            </a:pPr>
            <a:r>
              <a:rPr sz="2100" b="1">
                <a:solidFill>
                  <a:srgbClr val="1D5FD6"/>
                </a:solidFill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AC5BD-3F7B-4C99-AEA1-88ED679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522"/>
                </a:solidFill>
              </a:defRPr>
            </a:pPr>
            <a:r>
              <a:rPr sz="1800" b="0">
                <a:solidFill>
                  <a:srgbClr val="101522"/>
                </a:solidFill>
              </a:rPr>
              <a:t>Load Jira export, meeting notes, and build log.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A74AF-F9DF-4725-B9D8-557BAD5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5FD6"/>
                </a:solidFill>
              </a:defRPr>
            </a:pPr>
            <a:r>
              <a:rPr sz="2100" b="1">
                <a:solidFill>
                  <a:srgbClr val="1D5FD6"/>
                </a:solidFill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4680A-05AA-4A74-8BA1-7DF775BA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522"/>
                </a:solidFill>
              </a:defRPr>
            </a:pPr>
            <a:r>
              <a:rPr sz="1800" b="0">
                <a:solidFill>
                  <a:srgbClr val="101522"/>
                </a:solidFill>
              </a:rPr>
              <a:t>Run the agent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70A4E-2F71-4090-9C0D-5322FA7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5FD6"/>
                </a:solidFill>
              </a:defRPr>
            </a:pPr>
            <a:r>
              <a:rPr sz="2100" b="1">
                <a:solidFill>
                  <a:srgbClr val="1D5FD6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A7C8B-31CD-44D3-B629-0D49FACF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522"/>
                </a:solidFill>
              </a:defRPr>
            </a:pPr>
            <a:r>
              <a:rPr sz="1800" b="0">
                <a:solidFill>
                  <a:srgbClr val="101522"/>
                </a:solidFill>
              </a:rPr>
              <a:t>Show risk score, evidence, actions, drafts, and Codex remediation.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F7E61-7D2A-43FD-A488-40485FA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5FD6"/>
                </a:solidFill>
              </a:defRPr>
            </a:pPr>
            <a:r>
              <a:rPr sz="2100" b="1">
                <a:solidFill>
                  <a:srgbClr val="1D5FD6"/>
                </a:solidFill>
              </a:rPr>
              <a:t>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CEB74-0FE3-4F33-82FA-30AF603A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522"/>
                </a:solidFill>
              </a:defRPr>
            </a:pPr>
            <a:r>
              <a:rPr sz="1800" b="0">
                <a:solidFill>
                  <a:srgbClr val="101522"/>
                </a:solidFill>
              </a:rPr>
              <a:t>Explain measurable business impact.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E5181-7822-4204-87B7-9630ECC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HCLTech x OpenAI Agentic AI Hackathon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5CB5A-3452-4EA1-9D0C-449D59C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8788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292702-2773-40B0-B5C4-AE2C81E2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Why This Can 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680BE-F37E-40DC-92C2-AAD36723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23D5A"/>
          </a:solidFill>
          <a:ln xmlns:a="http://schemas.openxmlformats.org/drawingml/2006/main" w="9525">
            <a:solidFill>
              <a:srgbClr val="4E78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9891-0D71-4B44-A536-C9EAB69A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 hrs → 15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AEBD9-E14E-4BFA-AA25-6D43E2BF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6F7"/>
                </a:solidFill>
              </a:defRPr>
            </a:pPr>
            <a:r>
              <a:rPr sz="1500" b="0">
                <a:solidFill>
                  <a:srgbClr val="D6E6F7"/>
                </a:solidFill>
              </a:rPr>
              <a:t>Status prep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72D8E-C551-4C70-A7E3-84313F7D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9545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23D5A"/>
          </a:solidFill>
          <a:ln xmlns:a="http://schemas.openxmlformats.org/drawingml/2006/main" w="9525">
            <a:solidFill>
              <a:srgbClr val="4E78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8950A-C5CB-47A7-857F-B012B950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Same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82374-F04C-40B9-ADB2-D023D60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6F7"/>
                </a:solidFill>
              </a:defRPr>
            </a:pPr>
            <a:r>
              <a:rPr sz="1500" b="0">
                <a:solidFill>
                  <a:srgbClr val="D6E6F7"/>
                </a:solidFill>
              </a:rPr>
              <a:t>Blocker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83CDF-B873-4E35-9160-4EA643A0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23D5A"/>
          </a:solidFill>
          <a:ln xmlns:a="http://schemas.openxmlformats.org/drawingml/2006/main" w="9525">
            <a:solidFill>
              <a:srgbClr val="4E78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D408D-EEC1-44AD-8986-33438FAE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69823-9AA5-4627-8D00-B57D084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6F7"/>
                </a:solidFill>
              </a:defRPr>
            </a:pPr>
            <a:r>
              <a:rPr sz="1500" b="0">
                <a:solidFill>
                  <a:srgbClr val="D6E6F7"/>
                </a:solidFill>
              </a:rPr>
              <a:t>Repeatable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304D1-EEB9-48D0-81F1-F8CB33AD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14700"/>
            <a:ext cx="4572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23D5A"/>
          </a:solidFill>
          <a:ln xmlns:a="http://schemas.openxmlformats.org/drawingml/2006/main" w="9525">
            <a:solidFill>
              <a:srgbClr val="4E78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33534-7AE4-42EF-B61E-D2CA25B2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49A21-8F7D-4FBF-BFEE-965CAB0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6F7"/>
                </a:solidFill>
              </a:defRPr>
            </a:pPr>
            <a:r>
              <a:rPr sz="1500" b="0">
                <a:solidFill>
                  <a:srgbClr val="D6E6F7"/>
                </a:solidFill>
              </a:rPr>
              <a:t>Scale across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D2669-DA3F-4086-A7A6-5A8A8905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6E6F7"/>
                </a:solidFill>
              </a:defRPr>
            </a:pPr>
            <a:r>
              <a:rPr sz="1800" b="1">
                <a:solidFill>
                  <a:srgbClr val="D6E6F7"/>
                </a:solidFill>
              </a:rPr>
              <a:t>Submission close: an OpenAI-first enterprise product with clear innovation, measurable impact, real-world relevance, technical execution, and scalability.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54F37-8880-4846-BABB-A38C5622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HCLTech x OpenAI Agentic AI Hackathon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A926C-6D45-436C-BB86-4D9D7BF7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17084"/>
                </a:solidFill>
              </a:defRPr>
            </a:pPr>
            <a:r>
              <a:rPr sz="975" b="0">
                <a:solidFill>
                  <a:srgbClr val="617084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44081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2026-06-24T07:34:17.7770000Z</dcterms:created>
  <dcterms:modified xsi:type="dcterms:W3CDTF">2026-06-24T07:34:17.7780000Z</dcterms:modified>
</coreProperties>
</file>